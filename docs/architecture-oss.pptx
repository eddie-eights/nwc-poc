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接頭辞は &lt;owner&gt;-nwc-oss。state も別なので、マネージド版と名前はぶつからない。</a:t>
            </a:r>
          </a:p>
          <a:p>
            <a:r>
              <a:t>- 赤枠の 5 つ（Kafka・Spark・OpenSearch・VictoriaMetrics・Neo4j）が置き換え。</a:t>
            </a:r>
          </a:p>
          <a:p>
            <a:r>
              <a:t>- Nautobot の Job から Neo4j への同期はまだつないでいない（Nautobot のイメージに Neo4j のドライバが無い）。lab の定義からの ops/sync-graph.sh --oss で代える。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KB の OpenSearch Serverless は変えない（置き換えたのはログの検索のほう）。</a:t>
            </a:r>
          </a:p>
          <a:p>
            <a:r>
              <a:t>- マネージド版の固有機能に頼った箇所: centrality（neptune.algo → GDS の gds.degree / gds.closeness / gds.wcc）、グラフへの問い合わせ（neptune-graph の execute_query → Bolt のドライバ、GRAPH_BACKEND=neo4j）。</a:t>
            </a:r>
          </a:p>
          <a:p>
            <a:r>
              <a:t>- GDS の jar は GPLv3。Community 版の GDS は並列 4 コアまで、モデル 3 つまで。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イメージ: apache/kafka:4.3.1、apache/spark:3.5.9（自前）、opensearchproject/opensearch:3.9.0、victoriametrics/*:v1.153.0-cluster、neo4j:2026.09.0-community + GDS、Kafbat UI は ghcr.io/kafbat/kafka-ui:v1.5.0。</a:t>
            </a:r>
          </a:p>
          <a:p>
            <a:r>
              <a:t>- Cloud Map の名前: kafka-1..3、opensearch・opensearch-cm、vminsert・vmselect・vmstorage-1..3、neo4j、kafka-ui。</a:t>
            </a:r>
          </a:p>
          <a:p>
            <a:r>
              <a:t>- OpenSearch と Neo4j はネットワークファイルシステムを避けるので EFS を使わない。OpenSearch のデータの台は一時領域 30 GiB。</a:t>
            </a:r>
          </a:p>
          <a:p>
            <a:r>
              <a:t>- VictoriaMetrics は insert 1・select 1・storage 3 で、複製数 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base/core の oss.tf はマネージド版と共通のファイル。var.project が nwc-oss のときだけ SG と EFS を作る。</a:t>
            </a:r>
          </a:p>
          <a:p>
            <a:r>
              <a:t>- マネージド版の数は stream 37、graph 10、analytics 53。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ノードどうし: kafka 9092–9093、opensearch 9300、victoriametrics 8400–8401。</a:t>
            </a:r>
          </a:p>
          <a:p>
            <a:r>
              <a:t>- web → neo4j 7474 は Neo4j Browser（SSM のポートフォワード）。</a:t>
            </a:r>
          </a:p>
          <a:p>
            <a:r>
              <a:t>- kafka・opensearch・victoriametrics・neo4j はエンドポイントと S3 へ 443。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全体: lab でリンクを落とすと、Grafana のアラート → SNS → Lambda → Neo4j の status → Web のトポロジまでつながった。エージェントの centrality・search_logs・query_metrics が答えた。</a:t>
            </a:r>
          </a:p>
          <a:p>
            <a:r>
              <a:t>- oss/ops/down.sh で消えた。残るのは Runtime の ENI が外れるまでの VPC・サブネット・runtime の SG と、KEEP_ECR=1 の ECR（どちらも時間課金は無い）。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設計のリスクから: OpenSearch はデータの 2 台が同時に落ちるとデータが消える。Kafka と OpenSearch の入れ替え（ローリング）は未実装。</a:t>
            </a:r>
          </a:p>
          <a:p>
            <a:r>
              <a:t>- Nautobot の Job → Neo4j の同期は未接続（sync-graph --oss で代える）。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2103120"/>
            <a:ext cx="100584" cy="1170432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144" y="2029968"/>
            <a:ext cx="10198303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5000"/>
              </a:lnSpc>
            </a:pPr>
            <a:r>
              <a:rPr sz="40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nwc-poc の構成（OSS 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3529584"/>
            <a:ext cx="1019830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sz="1800" b="0" i="0">
                <a:solidFill>
                  <a:srgbClr val="595959"/>
                </a:solidFill>
                <a:latin typeface="Lato"/>
                <a:ea typeface="Noto Sans JP"/>
                <a:cs typeface="Noto Sans JP"/>
              </a:rPr>
              <a:t>マネージドの 5 つを ECS の OSS に置き換え、ほかはマネージド版と同じにする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" y="4279392"/>
            <a:ext cx="101983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2026-10-08  /  docs/oss-variant.md、docs/cycles/005-oss-on-ecs/design.md、oss/terraform/、terraform/base/core/oss.tf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置き換えたのは 5 つだけで、データの流れはマネージド版と同じ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oss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55648"/>
            <a:ext cx="10509199" cy="39312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5 つのマネージドを、ECS で動かす OSS に 1 対 1 で替えた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2878936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役割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マネージド版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OSS 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Kafka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MSK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Apache Kafka（KRaft）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ストリーム処理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EMR Serverless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Apache Spark 3.5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ログの検索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OpenSearch Serverless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OpenSearch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メトリクス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AMP（Prometheus）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VictoriaMetrics のクラスター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トポロジのグラフ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Neptune Analytics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Neo4j CE + GDS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4872328"/>
            <a:ext cx="10509199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変えないもの: AgentCore・Bedrock・KB・S3 Tables・RDS・SNS・SQS・Lambda・SSM・閉域。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置き換えの 5 つは Fargate のタスク 15 個で動く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14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これに Kafbat UI がもう 1 個。数字はタスク 1 つの vCPU / メモリの既定値。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308352"/>
          <a:ext cx="10509199" cy="2878936"/>
        </p:xfrm>
        <a:graphic>
          <a:graphicData uri="http://schemas.openxmlformats.org/drawingml/2006/table">
            <a:tbl>
              <a:tblPr firstRow="1" bandRow="0"/>
              <a:tblGrid>
                <a:gridCol w="2627299"/>
                <a:gridCol w="2627299"/>
                <a:gridCol w="2627299"/>
                <a:gridCol w="2627302"/>
              </a:tblGrid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OSS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タスク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大きさ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データ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Kafka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3（AZ に 1 つ）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 / 2 GB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EFS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Spark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3（ジョブに 1 つ）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2 / 4 GB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S3（checkpoint）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OpenSearch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3（データ 2・まとめ役 1）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 / 4 GB・0.5 / 1 GB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タスクの一時領域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VictoriaMetrics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5（うち storage 3）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0.5 / 1 GB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EFS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Neo4j + GDS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1（単独）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 / 4 GB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タスクの一時領域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ルートはマネージド版と同じ 9 つで、自分のファイルを持つのは 3 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708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ほかの 6 つは terraform/ へのシンボリックリンクに oss.auto.tfvars を足しただけ。数は resource ブロックの数。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702052"/>
          <a:ext cx="10509199" cy="3033292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49377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ルート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OSS 版で替えたもの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数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9756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pipeline/stream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MSK → Kafka（kafka.tf）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46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9756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pipeline/graph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Neptune → Neo4j（neo4j.tf・sync.tf）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23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85062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pipeline/analytics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EMR・OpenSearch・AMP → ECS（spark.tf ほか）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79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base/core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oss.tf の SG・EFS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35000"/>
                        </a:lnSpc>
                      </a:pPr>
                      <a:r>
                        <a:rPr sz="1476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39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データの流れも 6 段のままで、格納とグラフの置き場だけが替わる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oss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55648"/>
            <a:ext cx="10509199" cy="19072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OSS への通信は SG だけで絞り、Kafka は認証の無い 9092 で受ける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14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55000"/>
              </a:lnSpc>
            </a:pPr>
            <a:r>
              <a:rPr sz="16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MSK の SG とその行を外し、下の行を足した。ほかの行はマネージド版のまま。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41248" y="2308352"/>
          <a:ext cx="10509199" cy="3155692"/>
        </p:xfrm>
        <a:graphic>
          <a:graphicData uri="http://schemas.openxmlformats.org/drawingml/2006/table">
            <a:tbl>
              <a:tblPr firstRow="1" bandRow="0"/>
              <a:tblGrid>
                <a:gridCol w="3503066"/>
                <a:gridCol w="3503066"/>
                <a:gridCol w="3503067"/>
              </a:tblGrid>
              <a:tr h="449072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送り元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宛先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ポート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telegraf・spark・kafka_ui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kafka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9092（認証なし）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kafka・victoriametrics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efs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2049（NFS・TLS）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spark・grafana・runtime・lambda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opensearch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9200（REST）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spark（書く）・grafana・runtime・lambda（読む）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victoriametrics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8480・8481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41324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web・runtime・lambda・workflow・nautobot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neo4j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312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7687（Bolt）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oss/ops/up.sh は同じ 9 ルートを作り、down.sh が逆の順に消す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41248" y="1755648"/>
            <a:ext cx="10509199" cy="3337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作る順: base/ecr → base/core → agent → lab → stream → graph → nautobot → analytics → workflow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格納先は 4 つ全部と Grafana をいつも作る。KB は作らない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消すのは接頭辞 &lt;owner&gt;-nwc-oss のものだけ。KEEP_ECR=1 で ECR を残す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Fargate の vCPU を OSS 版だけで 21.5 使う（このアカウントの上限は 30）</a:t>
            </a:r>
          </a:p>
          <a:p>
            <a:pPr marL="0" indent="0">
              <a:lnSpc>
                <a:spcPct val="155000"/>
              </a:lnSpc>
              <a:spcAft>
                <a:spcPts val="792"/>
              </a:spcAft>
            </a:pPr>
            <a:r>
              <a:rPr sz="1800" b="0" i="0">
                <a:solidFill>
                  <a:srgbClr val="D63A2F"/>
                </a:solidFill>
                <a:latin typeface="Lato"/>
                <a:ea typeface="Noto Sans JP"/>
                <a:cs typeface="Noto Sans JP"/>
              </a:rPr>
              <a:t>・</a:t>
            </a:r>
            <a:r>
              <a:rPr sz="1800" b="0" i="0">
                <a:solidFill>
                  <a:srgbClr val="1A1A1A"/>
                </a:solidFill>
                <a:latin typeface="Lato"/>
                <a:ea typeface="Noto Sans JP"/>
                <a:cs typeface="Noto Sans JP"/>
              </a:rPr>
              <a:t>EFS は $0.36 / GB 月。時間課金の合計と所要時間は docs にまだ無い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2026-10-07 に AWS で 1 回立て、5 つとも動いて端から端までつながった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3807460"/>
        </p:xfrm>
        <a:graphic>
          <a:graphicData uri="http://schemas.openxmlformats.org/drawingml/2006/table">
            <a:tbl>
              <a:tblPr firstRow="1" bandRow="0"/>
              <a:tblGrid>
                <a:gridCol w="5254599"/>
                <a:gridCol w="5254600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OSS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確かめたこと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Kafka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1 時間流し、1 台止めても受け続け、3 分以内に戻った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OpenSearch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3.9.0 が green。1 台止めても yellow で検索できた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VictoriaMetrics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396 系列が出た。vmstorage を 1 台止めても欠けない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Neo4j + GDS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status と centrality が動き、sync-graph --oss で戻った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Spark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S3 Tables に 1 時間で 115,719 行。ほか 3 つにも入った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1248" y="640080"/>
            <a:ext cx="82296" cy="402336"/>
          </a:xfrm>
          <a:prstGeom prst="rect">
            <a:avLst/>
          </a:prstGeom>
          <a:solidFill>
            <a:srgbClr val="1111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1025316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sz="2400" b="1" i="0">
                <a:solidFill>
                  <a:srgbClr val="111110"/>
                </a:solidFill>
                <a:latin typeface="Lato"/>
                <a:ea typeface="Noto Sans JP"/>
                <a:cs typeface="Noto Sans JP"/>
              </a:rPr>
              <a:t>未確認は 4 つで、2 つはマネージド版と並べないと確かめられない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1426464"/>
            <a:ext cx="10509199" cy="0"/>
          </a:xfrm>
          <a:prstGeom prst="line">
            <a:avLst/>
          </a:prstGeom>
          <a:ln w="12700">
            <a:solidFill>
              <a:srgbClr val="DFDF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755648"/>
          <a:ext cx="10509199" cy="2807716"/>
        </p:xfrm>
        <a:graphic>
          <a:graphicData uri="http://schemas.openxmlformats.org/drawingml/2006/table">
            <a:tbl>
              <a:tblPr firstRow="1" bandRow="0"/>
              <a:tblGrid>
                <a:gridCol w="5254599"/>
                <a:gridCol w="5254600"/>
              </a:tblGrid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項目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1" i="0">
                          <a:solidFill>
                            <a:srgbClr val="111110"/>
                          </a:solidFill>
                          <a:latin typeface="Lato"/>
                          <a:ea typeface="Noto Sans JP"/>
                          <a:cs typeface="Noto Sans JP"/>
                        </a:rPr>
                        <a:t>分かっていないこと</a:t>
                      </a:r>
                    </a:p>
                  </a:txBody>
                  <a:tcPr marL="91440" marR="91440" marT="45720" marB="45720" anchor="ctr">
                    <a:lnB w="15240" cap="flat">
                      <a:solidFill>
                        <a:srgbClr val="111110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Kafka（EFS）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日単位で流したときの遅さやロック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VictoriaMetrics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vminsert だけが起き直したとき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Neo4j + GDS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Neptune と同じ並びになるか（並べる要）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  <a:tr h="653796"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並べて立てる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35000"/>
                        </a:lnSpc>
                      </a:pPr>
                      <a:r>
                        <a:rPr sz="1639" b="0" i="0">
                          <a:solidFill>
                            <a:srgbClr val="1A1A1A"/>
                          </a:solidFill>
                          <a:latin typeface="Lato"/>
                          <a:ea typeface="Noto Sans JP"/>
                          <a:cs typeface="Noto Sans JP"/>
                        </a:rPr>
                        <a:t>vCPU の上限 30 に OSS 版だけで 21.5（並べる要）</a:t>
                      </a:r>
                    </a:p>
                  </a:txBody>
                  <a:tcPr marL="91440" marR="91440" marT="45720" marB="45720" anchor="ctr">
                    <a:lnB w="9525" cap="flat">
                      <a:solidFill>
                        <a:srgbClr val="DFDFDF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1248" y="6272784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A5A5A5"/>
                </a:solidFill>
                <a:latin typeface="Menlo"/>
                <a:ea typeface="Menlo"/>
                <a:cs typeface="Menlo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