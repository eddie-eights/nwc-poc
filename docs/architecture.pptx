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9.png"/><Relationship Id="rId15" Type="http://schemas.openxmlformats.org/officeDocument/2006/relationships/image" Target="../media/image8.png"/><Relationship Id="rId16" Type="http://schemas.openxmlformats.org/officeDocument/2006/relationships/image" Target="../media/image11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netops-biz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機器のデータを集めて貯め、異常を見つけ、AI エージェントが原因を調べ、人が承認してから直す。東京リージョン・閉域。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① 収集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Telegraf（ECS）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機器が送る trap・syslog を受け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gNMI・SNMP を取りにいく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② ストリーム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Amazon MSK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Kafka のトピックに流す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（5 本）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44368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9904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③ 格納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Spark（EMR Serverless）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S3 Tables・OpenSearch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Prometheus・Splunk へ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（書き先は STORES で選ぶ）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06256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④ 検知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Grafana・Splunk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同じ 4 種類のアラートを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両方が SNS のトピックへ出す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77072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722608" y="1691640"/>
            <a:ext cx="2450592" cy="1828800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59768" y="1801368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008A8C"/>
                </a:solidFill>
                <a:latin typeface="Noto Sans JP"/>
                <a:ea typeface="Noto Sans JP"/>
              </a:rPr>
              <a:t>⑤ 調査・承認・修復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59768" y="224028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Noto Sans JP"/>
                <a:ea typeface="Noto Sans JP"/>
              </a:rPr>
              <a:t>Temporal + AI エージェント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59768" y="2624328"/>
            <a:ext cx="2176272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原因と修復案を出し</a:t>
            </a:r>
          </a:p>
          <a:p>
            <a:pPr algn="l"/>
            <a:r>
              <a:rPr sz="1000" b="0">
                <a:solidFill>
                  <a:srgbClr val="5A6775"/>
                </a:solidFill>
                <a:latin typeface="Noto Sans JP"/>
                <a:ea typeface="Noto Sans JP"/>
              </a:rPr>
              <a:t>人の承認のあと lab を直す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93424" y="2606040"/>
            <a:ext cx="292608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3840480"/>
            <a:ext cx="13716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まわりで支えるもの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51960"/>
            <a:ext cx="2450592" cy="16002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D96B1E"/>
                </a:solidFill>
                <a:latin typeface="Noto Sans JP"/>
                <a:ea typeface="Noto Sans JP"/>
              </a:rPr>
              <a:t>Nautobot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54880"/>
            <a:ext cx="2176272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機器の一覧とケーブルの正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変えると Job が ① の取りにいく先と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Neptune のトポロジを合わせる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4251960"/>
            <a:ext cx="2450592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434340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Amazon Neptune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0712" y="4754880"/>
            <a:ext cx="2176272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トポロジ（機器・IF・回線）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アラートで status が変わる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修復案と履歴は置かない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06256" y="4251960"/>
            <a:ext cx="2450592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3416" y="434340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Web の画面（EC2）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6" y="4754880"/>
            <a:ext cx="2176272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チャット（AI エージェントに聞く）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トポロジ（Neptune を図で見る）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承認（修復案を人が承認・却下）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722608" y="4251960"/>
            <a:ext cx="2450592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59768" y="434340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lab（EC2）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59768" y="4754880"/>
            <a:ext cx="2176272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containerlab + Nokia SR Linux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本番の機器の代わり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修復は SSM Run Command で入れる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172200"/>
            <a:ext cx="13716000" cy="155448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236208"/>
            <a:ext cx="13441680" cy="127101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閉域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・VPC にインターネットへの経路は無い（IGW も NAT Gateway も作らない）。AWS の API へは VPC エンドポイントからだけ行き、それ以外の呼び出しは Deny で拒む。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・画面（Web・Grafana・Splunk・Temporal・Nautobot・Kafbat UI）は、Web の EC2 を踏み台にした SSM のポートフォワーディングで PC の localhost に開く。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・作るのは ops/up.sh、消すのは ops/down.sh。何を作るかは deploy.env（AGENT / PIPELINE / WORKFLOW など）。Nautobot は PIPELINE=1 ならいつも立つ。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・Spark の書き先は STORES（既定は s3,grafana,splunk）、何 AZ に置くかは &lt;リソース&gt;_AZ_NUM で選ぶ（既定は 1 AZ。MSK だけ 2 AZ）。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 / 5</a:t>
            </a:r>
          </a:p>
        </p:txBody>
      </p:sp>
      <p:sp>
        <p:nvSpPr>
          <p:cNvPr id="45" name="Rounded Rectangle 32"/>
          <p:cNvSpPr/>
          <p:nvPr/>
        </p:nvSpPr>
        <p:spPr>
          <a:xfrm>
            <a:off x="6089904" y="4251960"/>
            <a:ext cx="2450592" cy="16002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33"/>
          <p:cNvSpPr txBox="1"/>
          <p:nvPr/>
        </p:nvSpPr>
        <p:spPr>
          <a:xfrm>
            <a:off x="6227064" y="4343400"/>
            <a:ext cx="217627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Noto Sans JP"/>
                <a:ea typeface="Noto Sans JP"/>
              </a:rPr>
              <a:t>S3 Tables（履歴）</a:t>
            </a:r>
          </a:p>
        </p:txBody>
      </p:sp>
      <p:sp>
        <p:nvSpPr>
          <p:cNvPr id="47" name="TextBox 34"/>
          <p:cNvSpPr txBox="1"/>
          <p:nvPr/>
        </p:nvSpPr>
        <p:spPr>
          <a:xfrm>
            <a:off x="6227064" y="4754880"/>
            <a:ext cx="2176272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alert_events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（アラートの開いた・閉じた）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proposal_events</a:t>
            </a:r>
          </a:p>
          <a:p>
            <a:pPr algn="l"/>
            <a:r>
              <a:rPr sz="950" b="0">
                <a:solidFill>
                  <a:srgbClr val="5A6775"/>
                </a:solidFill>
                <a:latin typeface="Noto Sans JP"/>
                <a:ea typeface="Noto Sans JP"/>
              </a:rPr>
              <a:t>（修復案と承認・適用の経過）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① 〜 ③ 収集から格納まで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Telegraf は役割で 2 つのサービスに分けた。dialout は機器が送ってくるものを受け、dialin はこちらから取りにいく。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28600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2066543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機器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00200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1655064"/>
            <a:ext cx="453542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① 収集（stream の ECS Fargate）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600200"/>
            <a:ext cx="182880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655064"/>
            <a:ext cx="160934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② ストリーム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0" y="1600200"/>
            <a:ext cx="3383280" cy="45720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99648" y="1655064"/>
            <a:ext cx="316382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③ 格納</a:t>
            </a:r>
          </a:p>
        </p:txBody>
      </p:sp>
      <p:pic>
        <p:nvPicPr>
          <p:cNvPr id="13" name="Picture 12" descr="d0809f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246120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785615"/>
            <a:ext cx="21031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containerlab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Nokia SR Linux</a:t>
            </a:r>
          </a:p>
        </p:txBody>
      </p:sp>
      <p:pic>
        <p:nvPicPr>
          <p:cNvPr id="15" name="Picture 14" descr="7bcba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7" y="2240280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37559" y="2779776"/>
            <a:ext cx="17373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内部 NLB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 162 / syslog 5140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MDT 57000</a:t>
            </a:r>
          </a:p>
        </p:txBody>
      </p:sp>
      <p:pic>
        <p:nvPicPr>
          <p:cNvPr id="17" name="Picture 1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240280"/>
            <a:ext cx="512064" cy="5120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2779776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dialout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受ける側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増やしても重複しない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（TELEGRAF_AZ_NUM で増やす）</a:t>
            </a:r>
          </a:p>
        </p:txBody>
      </p:sp>
      <p:pic>
        <p:nvPicPr>
          <p:cNvPr id="19" name="Picture 18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3484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94960" y="4974336"/>
            <a:ext cx="25603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取りにいく側（1 タスク）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一覧と認証情報は SSM から</a:t>
            </a:r>
          </a:p>
        </p:txBody>
      </p:sp>
      <p:pic>
        <p:nvPicPr>
          <p:cNvPr id="21" name="Picture 20" descr="f61fb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3246120"/>
            <a:ext cx="512064" cy="512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49640" y="3785615"/>
            <a:ext cx="17373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MSK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metrics / gnmi / mdt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traps / logs</a:t>
            </a:r>
          </a:p>
        </p:txBody>
      </p:sp>
      <p:pic>
        <p:nvPicPr>
          <p:cNvPr id="23" name="Picture 22" descr="ee37f5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1128" y="2240280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52760" y="2779776"/>
            <a:ext cx="182880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Spark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EMR Serverless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流すだけ（検知はしない）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920240" y="2560320"/>
            <a:ext cx="1965960" cy="68580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48840" y="2331720"/>
            <a:ext cx="118872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機器が送る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trap・syslog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26280" y="2496312"/>
            <a:ext cx="182880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965960" y="3749039"/>
            <a:ext cx="4389120" cy="941833"/>
          </a:xfrm>
          <a:prstGeom prst="line">
            <a:avLst/>
          </a:prstGeom>
          <a:ln w="19050">
            <a:solidFill>
              <a:srgbClr val="6B77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37560" y="4480560"/>
            <a:ext cx="210312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取りにいく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gNMI 購読・SNMP ポーリング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95160" y="2606040"/>
            <a:ext cx="2103120" cy="7772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95160" y="3657600"/>
            <a:ext cx="2103120" cy="96012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738360" y="2606040"/>
            <a:ext cx="1508760" cy="7772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27080" y="3703320"/>
            <a:ext cx="31546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5A6775"/>
                </a:solidFill>
                <a:latin typeface="Noto Sans JP"/>
                <a:ea typeface="Noto Sans JP"/>
              </a:rPr>
              <a:t>Spark の書き先（STORES で選ぶ。既定は 3 つとも）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400800"/>
            <a:ext cx="13716000" cy="12801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3441680" cy="113385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・本番の Cisco の telemetry と性能メトリクスは MDT の dial-out（57000/tcp）で受ける方針。lab の SR Linux は MDT を送れないので gNMI で取り、Telegraf の中で共通の形に変える。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・dialin が取りにいく機器の一覧は SSM のパラメータ。Nautobot の Job が書き換える（4 枚目）。</a:t>
            </a:r>
          </a:p>
          <a:p>
            <a:pPr algn="l"/>
            <a:r>
              <a:rPr sz="1000" b="0">
                <a:solidFill>
                  <a:srgbClr val="232F3E"/>
                </a:solidFill>
                <a:latin typeface="Noto Sans JP"/>
                <a:ea typeface="Noto Sans JP"/>
              </a:rPr>
              <a:t>・SNMP のポーリングは既定で動く（SNMP_POLL=1。10 秒ごと）。SNMP_POLL=0 にすると trap だけ受ける。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2 / 5</a:t>
            </a:r>
          </a:p>
        </p:txBody>
      </p:sp>
      <p:sp>
        <p:nvSpPr>
          <p:cNvPr id="41" name="TextBox 33"/>
          <p:cNvSpPr txBox="1"/>
          <p:nvPr/>
        </p:nvSpPr>
        <p:spPr>
          <a:xfrm>
            <a:off x="10927080" y="4023360"/>
            <a:ext cx="32004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・s3 → S3 Tables の raw_telemetry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　全トピックのメッセージ（正本）</a:t>
            </a:r>
          </a:p>
        </p:txBody>
      </p:sp>
      <p:sp>
        <p:nvSpPr>
          <p:cNvPr id="42" name="TextBox 33"/>
          <p:cNvSpPr txBox="1"/>
          <p:nvPr/>
        </p:nvSpPr>
        <p:spPr>
          <a:xfrm>
            <a:off x="10927080" y="4526280"/>
            <a:ext cx="32004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・grafana → OpenSearch Serverless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　traps / logs（索引 snmp-logs）</a:t>
            </a:r>
          </a:p>
        </p:txBody>
      </p:sp>
      <p:sp>
        <p:nvSpPr>
          <p:cNvPr id="43" name="TextBox 33"/>
          <p:cNvSpPr txBox="1"/>
          <p:nvPr/>
        </p:nvSpPr>
        <p:spPr>
          <a:xfrm>
            <a:off x="10927080" y="5029200"/>
            <a:ext cx="32004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・grafana → Managed Service for Prometheus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　metrics / gnmi / mdt の数値</a:t>
            </a:r>
          </a:p>
        </p:txBody>
      </p:sp>
      <p:sp>
        <p:nvSpPr>
          <p:cNvPr id="44" name="TextBox 33"/>
          <p:cNvSpPr txBox="1"/>
          <p:nvPr/>
        </p:nvSpPr>
        <p:spPr>
          <a:xfrm>
            <a:off x="10927080" y="5532120"/>
            <a:ext cx="32004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・splunk → Splunk（ECS）の HEC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　全トピック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4800600"/>
            <a:ext cx="512064" cy="512064"/>
          </a:xfrm>
          <a:prstGeom prst="rect">
            <a:avLst/>
          </a:prstGeom>
        </p:spPr>
      </p:pic>
      <p:sp>
        <p:nvSpPr>
          <p:cNvPr id="46" name="TextBox 21"/>
          <p:cNvSpPr txBox="1"/>
          <p:nvPr/>
        </p:nvSpPr>
        <p:spPr>
          <a:xfrm>
            <a:off x="8549640" y="5340096"/>
            <a:ext cx="17373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Kafbat UI（ECS）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トピックとメッセージを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見る画面（いつも 1 つ）</a:t>
            </a:r>
          </a:p>
        </p:txBody>
      </p:sp>
      <p:cxnSp>
        <p:nvCxnSpPr>
          <p:cNvPr id="47" name="Connector 31"/>
          <p:cNvCxnSpPr/>
          <p:nvPr/>
        </p:nvCxnSpPr>
        <p:spPr>
          <a:xfrm flipV="1">
            <a:off x="9418320" y="4407408"/>
            <a:ext cx="0" cy="347472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④ 〜 ⑤ 検知から修復まで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アラートは SNS のトピック 1 つに集める。トポロジの status を書き換えて履歴に残し、ワークフローが調査 → 人の承認 → 修復と進める。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377440" cy="62179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215798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④ 検知（analytics の ECS）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00200"/>
            <a:ext cx="8595360" cy="25603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7568" y="1655064"/>
            <a:ext cx="83759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トポロジに映し、履歴に残す（graph・analytics）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4343400"/>
            <a:ext cx="8595360" cy="34747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398264"/>
            <a:ext cx="83759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⑤ 調査 → 承認 → 修復（workflow）</a:t>
            </a:r>
          </a:p>
        </p:txBody>
      </p:sp>
      <p:pic>
        <p:nvPicPr>
          <p:cNvPr id="11" name="Picture 10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286000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825496"/>
            <a:ext cx="21945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Grafana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アラートルール 4 つ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link_down / bgp_down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isis_down / trap</a:t>
            </a:r>
          </a:p>
        </p:txBody>
      </p:sp>
      <p:pic>
        <p:nvPicPr>
          <p:cNvPr id="13" name="Picture 12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4846320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385816"/>
            <a:ext cx="219456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Splunk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保存済みサーチ 4 つ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Grafana と同じ 4 種類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trap からの link_down はここだけ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7" y="356616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C7246B"/>
          </a:solidFill>
          <a:ln w="12700">
            <a:solidFill>
              <a:srgbClr val="C72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SNS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05656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SNS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&lt;prefix&gt;-alerts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Grafana と Splunk の通知が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ここに集まる</a:t>
            </a:r>
          </a:p>
        </p:txBody>
      </p:sp>
      <p:pic>
        <p:nvPicPr>
          <p:cNvPr id="17" name="Picture 16" descr="c4524d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651760"/>
            <a:ext cx="512064" cy="5120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319125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AWS Lambda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&lt;prefix&gt;-graph-status</a:t>
            </a:r>
          </a:p>
        </p:txBody>
      </p:sp>
      <p:pic>
        <p:nvPicPr>
          <p:cNvPr id="19" name="Picture 18" descr="3e5bd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011680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2551176"/>
            <a:ext cx="23774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Neptune Analytics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トポロジと status（修復案は置かない）</a:t>
            </a:r>
          </a:p>
        </p:txBody>
      </p:sp>
      <p:pic>
        <p:nvPicPr>
          <p:cNvPr id="21" name="Picture 20" descr="d0809f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5440680"/>
            <a:ext cx="512064" cy="512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71800" y="5980176"/>
            <a:ext cx="24688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承認タブで人が承認・却下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（修復案は Athena で読む）</a:t>
            </a:r>
          </a:p>
        </p:txBody>
      </p:sp>
      <p:pic>
        <p:nvPicPr>
          <p:cNvPr id="23" name="Picture 22" descr="ef1763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029200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23560" y="5568696"/>
            <a:ext cx="210312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SQS（キュー 2 本）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&lt;prefix&gt;-anomalies（アラート）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&lt;prefix&gt;-decisions（承認・却下）</a:t>
            </a:r>
          </a:p>
        </p:txBody>
      </p:sp>
      <p:pic>
        <p:nvPicPr>
          <p:cNvPr id="25" name="Picture 24" descr="fe06d0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5029200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0" y="556869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Temporal（ECS）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ワークフローと worker</a:t>
            </a:r>
          </a:p>
        </p:txBody>
      </p:sp>
      <p:pic>
        <p:nvPicPr>
          <p:cNvPr id="27" name="Picture 26" descr="fab8e3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4128" y="5029200"/>
            <a:ext cx="512064" cy="5120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38560" y="5568696"/>
            <a:ext cx="274320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AgentCore Runtime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AI エージェント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Gateway（MCP）のツールで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トポロジ・ログ・メトリクス・履歴を読む</a:t>
            </a:r>
          </a:p>
        </p:txBody>
      </p:sp>
      <p:pic>
        <p:nvPicPr>
          <p:cNvPr id="29" name="Picture 28" descr="d0809f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88" y="6583680"/>
            <a:ext cx="512064" cy="5120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12480" y="712317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 の EC2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機器の設定を直す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965960" y="2651760"/>
            <a:ext cx="1920240" cy="100584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65960" y="3977639"/>
            <a:ext cx="1920240" cy="1051561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526280" y="2971800"/>
            <a:ext cx="1828800" cy="68580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26280" y="3977640"/>
            <a:ext cx="1828800" cy="118872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95160" y="2286000"/>
            <a:ext cx="2103120" cy="50292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0" y="5248656"/>
            <a:ext cx="10058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承認・却下を送る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95160" y="5285232"/>
            <a:ext cx="210312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44384" y="5029200"/>
            <a:ext cx="8001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起動・解消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5285232"/>
            <a:ext cx="265176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415016" y="5029200"/>
            <a:ext cx="1293876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原因と修復案を聞く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418320" y="6016752"/>
            <a:ext cx="0" cy="521208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589520" y="6236208"/>
            <a:ext cx="17830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承認されたら SSM Run Command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6583680"/>
            <a:ext cx="274320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・ワークフローを起こすのは link_down だけ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・修復案の置き場は S3 Tables だけ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　（Web と AI エージェントは Athena で読む）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・承認を押してから反映まで数秒〜20 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3 / 5</a:t>
            </a:r>
          </a:p>
        </p:txBody>
      </p:sp>
      <p:sp>
        <p:nvSpPr>
          <p:cNvPr id="48" name="TextBox 45"/>
          <p:cNvSpPr txBox="1"/>
          <p:nvPr/>
        </p:nvSpPr>
        <p:spPr>
          <a:xfrm>
            <a:off x="566928" y="6583680"/>
            <a:ext cx="219456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SPLUNK_AZ_NUM が 2 か 3 のとき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Splunk は indexer のクラスター。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・cluster manager 1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・indexer を AZ の数だけ</a:t>
            </a:r>
          </a:p>
          <a:p>
            <a:pPr algn="l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・search head 1（アラートを出す）</a:t>
            </a:r>
          </a:p>
        </p:txBody>
      </p:sp>
      <p:sp>
        <p:nvSpPr>
          <p:cNvPr id="49" name="TextBox 36"/>
          <p:cNvSpPr txBox="1"/>
          <p:nvPr/>
        </p:nvSpPr>
        <p:spPr>
          <a:xfrm>
            <a:off x="7086600" y="2212848"/>
            <a:ext cx="10058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status を書く</a:t>
            </a:r>
          </a:p>
        </p:txBody>
      </p:sp>
      <p:sp>
        <p:nvSpPr>
          <p:cNvPr id="50" name="Rounded Rectangle 14"/>
          <p:cNvSpPr/>
          <p:nvPr/>
        </p:nvSpPr>
        <p:spPr>
          <a:xfrm>
            <a:off x="9162288" y="320040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JP"/>
              </a:rPr>
              <a:t>Firehose</a:t>
            </a:r>
          </a:p>
        </p:txBody>
      </p:sp>
      <p:sp>
        <p:nvSpPr>
          <p:cNvPr id="51" name="TextBox 17"/>
          <p:cNvSpPr txBox="1"/>
          <p:nvPr/>
        </p:nvSpPr>
        <p:spPr>
          <a:xfrm>
            <a:off x="8229600" y="3739896"/>
            <a:ext cx="23774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Data Firehose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60 秒ごとにまとめて書く</a:t>
            </a:r>
          </a:p>
        </p:txBody>
      </p:sp>
      <p:cxnSp>
        <p:nvCxnSpPr>
          <p:cNvPr id="52" name="Connector 34"/>
          <p:cNvCxnSpPr/>
          <p:nvPr/>
        </p:nvCxnSpPr>
        <p:spPr>
          <a:xfrm>
            <a:off x="6995160" y="3035808"/>
            <a:ext cx="2103120" cy="402336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36"/>
          <p:cNvSpPr txBox="1"/>
          <p:nvPr/>
        </p:nvSpPr>
        <p:spPr>
          <a:xfrm>
            <a:off x="7543800" y="3456432"/>
            <a:ext cx="12801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通知を 1 件ずつ送る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4128" y="3200400"/>
            <a:ext cx="512064" cy="512064"/>
          </a:xfrm>
          <a:prstGeom prst="rect">
            <a:avLst/>
          </a:prstGeom>
        </p:spPr>
      </p:pic>
      <p:sp>
        <p:nvSpPr>
          <p:cNvPr id="55" name="TextBox 19"/>
          <p:cNvSpPr txBox="1"/>
          <p:nvPr/>
        </p:nvSpPr>
        <p:spPr>
          <a:xfrm>
            <a:off x="11338560" y="3739896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S3 Tables alert_events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（アラートの開いた・閉じた）</a:t>
            </a:r>
          </a:p>
        </p:txBody>
      </p:sp>
      <p:cxnSp>
        <p:nvCxnSpPr>
          <p:cNvPr id="56" name="Connector 34"/>
          <p:cNvCxnSpPr/>
          <p:nvPr/>
        </p:nvCxnSpPr>
        <p:spPr>
          <a:xfrm>
            <a:off x="9738360" y="3456432"/>
            <a:ext cx="265176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33"/>
          <p:cNvCxnSpPr/>
          <p:nvPr/>
        </p:nvCxnSpPr>
        <p:spPr>
          <a:xfrm flipV="1">
            <a:off x="4526280" y="5413248"/>
            <a:ext cx="1828800" cy="27432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4128" y="6583680"/>
            <a:ext cx="512064" cy="512064"/>
          </a:xfrm>
          <a:prstGeom prst="rect">
            <a:avLst/>
          </a:prstGeom>
        </p:spPr>
      </p:pic>
      <p:sp>
        <p:nvSpPr>
          <p:cNvPr id="59" name="TextBox 29"/>
          <p:cNvSpPr txBox="1"/>
          <p:nvPr/>
        </p:nvSpPr>
        <p:spPr>
          <a:xfrm>
            <a:off x="11338560" y="7123176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S3 Tables proposal_events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（修復案と承認・適用の経過）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worker だけが書く</a:t>
            </a:r>
          </a:p>
        </p:txBody>
      </p:sp>
      <p:cxnSp>
        <p:nvCxnSpPr>
          <p:cNvPr id="60" name="Connector 43"/>
          <p:cNvCxnSpPr/>
          <p:nvPr/>
        </p:nvCxnSpPr>
        <p:spPr>
          <a:xfrm>
            <a:off x="9829800" y="6016752"/>
            <a:ext cx="2560320" cy="768096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36"/>
          <p:cNvSpPr txBox="1"/>
          <p:nvPr/>
        </p:nvSpPr>
        <p:spPr>
          <a:xfrm>
            <a:off x="9921240" y="6601968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修復案と経過を 1 行ずつ足す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Nautobot 連携（いつも立つ）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機器の一覧とケーブルの正を Nautobot に置く。Nautobot で変えると、Job が Telegraf の取りにいく先と Neptune のトポロジを合わせる。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5760720" cy="251460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55064"/>
            <a:ext cx="55412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D96B1E"/>
                </a:solidFill>
                <a:latin typeface="Noto Sans JP"/>
                <a:ea typeface="Noto Sans JP"/>
              </a:rPr>
              <a:t>Nautobot 3.2（ECS Fargate の 1 タスク + RDS）</a:t>
            </a:r>
          </a:p>
        </p:txBody>
      </p:sp>
      <p:pic>
        <p:nvPicPr>
          <p:cNvPr id="7" name="Picture 6" descr="7a282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377440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916936"/>
            <a:ext cx="182880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運用者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機器・Service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ケーブルを変える</a:t>
            </a:r>
          </a:p>
        </p:txBody>
      </p:sp>
      <p:pic>
        <p:nvPicPr>
          <p:cNvPr id="9" name="Picture 8" descr="fe06d0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2377440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2916936"/>
            <a:ext cx="21031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web・worker・Redis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画面と API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Celery が Job を回す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237744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2E5FD8"/>
          </a:solidFill>
          <a:ln w="12700">
            <a:solidFill>
              <a:srgbClr val="2E5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16936"/>
            <a:ext cx="16459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PostgreSQL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RDS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db.t4g.micro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2633472"/>
            <a:ext cx="123444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2633472"/>
            <a:ext cx="1280160" cy="0"/>
          </a:xfrm>
          <a:prstGeom prst="line">
            <a:avLst/>
          </a:prstGeom>
          <a:ln w="19050">
            <a:solidFill>
              <a:srgbClr val="6B778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233172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56032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D96B1E"/>
                </a:solidFill>
                <a:latin typeface="Noto Sans JP"/>
                <a:ea typeface="Noto Sans JP"/>
              </a:rPr>
              <a:t>Job</a:t>
            </a:r>
          </a:p>
          <a:p>
            <a:pPr algn="ctr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変更のたび（JobHook）</a:t>
            </a:r>
          </a:p>
          <a:p>
            <a:pPr algn="ctr"/>
            <a:r>
              <a:rPr sz="900" b="0">
                <a:solidFill>
                  <a:srgbClr val="232F3E"/>
                </a:solidFill>
                <a:latin typeface="Noto Sans JP"/>
                <a:ea typeface="Noto Sans JP"/>
              </a:rPr>
              <a:t>または手で実行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3017520"/>
            <a:ext cx="548640" cy="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c35ba5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08" y="1783080"/>
            <a:ext cx="512064" cy="512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61119" y="2322575"/>
            <a:ext cx="23774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SSM のパラメータ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gNMI・SNMP の機器の一覧</a:t>
            </a:r>
          </a:p>
        </p:txBody>
      </p:sp>
      <p:pic>
        <p:nvPicPr>
          <p:cNvPr id="20" name="Picture 19" descr="fe06d0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08" y="1783080"/>
            <a:ext cx="512064" cy="5120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704319" y="2322575"/>
            <a:ext cx="237744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サービスを作り直して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新しい一覧で取りにいく</a:t>
            </a:r>
          </a:p>
        </p:txBody>
      </p:sp>
      <p:pic>
        <p:nvPicPr>
          <p:cNvPr id="22" name="Picture 21" descr="3e5bda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703320"/>
            <a:ext cx="512064" cy="5120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41280" y="4242816"/>
            <a:ext cx="2560320" cy="91439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Amazon Neptune Analytics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物理層（機器・IF・回線）を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openCypher で差分だけ書く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006840" y="2194560"/>
            <a:ext cx="822960" cy="54864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3920" y="1920240"/>
            <a:ext cx="1371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D96B1E"/>
                </a:solidFill>
                <a:latin typeface="Noto Sans JP"/>
                <a:ea typeface="Noto Sans JP"/>
              </a:rPr>
              <a:t>① 一覧を書き換え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69880" y="2039112"/>
            <a:ext cx="2103120" cy="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06840" y="3291840"/>
            <a:ext cx="2194560" cy="640080"/>
          </a:xfrm>
          <a:prstGeom prst="line">
            <a:avLst/>
          </a:prstGeom>
          <a:ln w="19050">
            <a:solidFill>
              <a:srgbClr val="D96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78240" y="3794760"/>
            <a:ext cx="17373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D96B1E"/>
                </a:solidFill>
                <a:latin typeface="Noto Sans JP"/>
                <a:ea typeface="Noto Sans JP"/>
              </a:rPr>
              <a:t>② トポロジを合わせる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901183"/>
            <a:ext cx="645566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Nautobot の何が、どこに映るか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 の Service「gnmi」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39496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Telegraf の gNMI の購読先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 の Service「snmp」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89788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Telegraf の SNMP のポーリング先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Device・Interface・IP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640080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Neptune の機器と 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90372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Noto Sans JP"/>
                <a:ea typeface="Noto Sans JP"/>
              </a:rPr>
              <a:t>Cable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6903720"/>
            <a:ext cx="36576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>
                <a:solidFill>
                  <a:srgbClr val="5A6775"/>
                </a:solidFill>
                <a:latin typeface="Noto Sans JP"/>
                <a:ea typeface="Noto Sans JP"/>
              </a:rPr>
              <a:t>→ Neptune の回線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4846320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FF4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4919472"/>
            <a:ext cx="6400800" cy="268833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押さえておくこと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・最初の起動だけ、lab の定義から機器とケーブルが入る。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・シークレット（管理者・DB のパスワードなど）は SSM の SecureString。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・Web の画面のリンクの追加・削除は Nautobot に書く（Job が Neptune に反映）。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・アラートが書く status と、IP 層より上のトポロジには触らない。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・ops/down.sh で DB ごと消える（編集した内容は残らない）。</a:t>
            </a:r>
          </a:p>
          <a:p>
            <a:pPr algn="l"/>
            <a:r>
              <a:rPr sz="950" b="0">
                <a:solidFill>
                  <a:srgbClr val="232F3E"/>
                </a:solidFill>
                <a:latin typeface="Noto Sans JP"/>
                <a:ea typeface="Noto Sans JP"/>
              </a:rPr>
              <a:t>・デバッグ用の EC2 は Nautobot を使わない（lab の定義の一覧のまま）。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232F3E"/>
                </a:solidFill>
                <a:latin typeface="Noto Sans JP"/>
                <a:ea typeface="Noto Sans JP"/>
              </a:rPr>
              <a:t>どこで何が動くか（配置と閉域）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3716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0">
                <a:solidFill>
                  <a:srgbClr val="5A6775"/>
                </a:solidFill>
                <a:latin typeface="Noto Sans JP"/>
                <a:ea typeface="Noto Sans JP"/>
              </a:rPr>
              <a:t>全部がプライベートサブネットの中。既定は 1 AZ（サブネット a）に 1 つずつ置く（MSK だけ 2 AZ）。「1〜3 AZ」は &lt;リソース&gt;_AZ_NUM で広げられる範囲（2 AZ 以上は AWS で未確認）。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3716000" cy="27432"/>
          </a:xfrm>
          <a:prstGeom prst="rect">
            <a:avLst/>
          </a:prstGeom>
          <a:solidFill>
            <a:srgbClr val="008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a282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3291840"/>
            <a:ext cx="512064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" y="3831336"/>
            <a:ext cx="210312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運用者の PC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localhost で開く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Web 8080 / Grafana 3000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Splunk 8000 / Temporal 8233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Nautobot 8081 / Kafbat UI 8082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00200"/>
            <a:ext cx="7680960" cy="6080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655064"/>
            <a:ext cx="74615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8C4FFF"/>
                </a:solidFill>
                <a:latin typeface="Noto Sans JP"/>
                <a:ea typeface="Noto Sans JP"/>
              </a:rPr>
              <a:t>VPC（プライベートサブネット a / b / c だけ。IGW・NAT Gateway 無し）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10312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157984"/>
            <a:ext cx="2066543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EC2</a:t>
            </a:r>
          </a:p>
        </p:txBody>
      </p:sp>
      <p:pic>
        <p:nvPicPr>
          <p:cNvPr id="11" name="Picture 10" descr="d0809f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606040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314553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Web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Gradio・踏み台（いつも 1 台）</a:t>
            </a:r>
          </a:p>
        </p:txBody>
      </p:sp>
      <p:pic>
        <p:nvPicPr>
          <p:cNvPr id="13" name="Picture 12" descr="d0809f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977639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17520" y="4517136"/>
            <a:ext cx="20116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lab</a:t>
            </a:r>
          </a:p>
          <a:p>
            <a:pPr algn="ct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containerlab（いつも 1 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03120"/>
            <a:ext cx="4709160" cy="32918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2157984"/>
            <a:ext cx="44897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ECS Fargate</a:t>
            </a:r>
          </a:p>
        </p:txBody>
      </p:sp>
      <p:pic>
        <p:nvPicPr>
          <p:cNvPr id="17" name="Picture 1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54203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2514600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dialout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stream（1〜3 AZ）</a:t>
            </a:r>
          </a:p>
        </p:txBody>
      </p:sp>
      <p:pic>
        <p:nvPicPr>
          <p:cNvPr id="19" name="Picture 18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4203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2514600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Telegraf dialin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stream（いつも 1 つ）</a:t>
            </a:r>
          </a:p>
        </p:txBody>
      </p:sp>
      <p:pic>
        <p:nvPicPr>
          <p:cNvPr id="21" name="Picture 20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24612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3218688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Grafana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analytics（いつも 1 つ）</a:t>
            </a:r>
          </a:p>
        </p:txBody>
      </p:sp>
      <p:pic>
        <p:nvPicPr>
          <p:cNvPr id="23" name="Picture 22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95020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0" y="3922776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Splunk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analytics（1〜3 AZ）</a:t>
            </a:r>
          </a:p>
        </p:txBody>
      </p:sp>
      <p:pic>
        <p:nvPicPr>
          <p:cNvPr id="25" name="Picture 24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5020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75320" y="3922776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Temporal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workflow（いつも 1 つ）</a:t>
            </a:r>
          </a:p>
        </p:txBody>
      </p:sp>
      <p:pic>
        <p:nvPicPr>
          <p:cNvPr id="27" name="Picture 26" descr="fe06d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65429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35040" y="4626864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Nautobot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nautobot（いつも 1 つ）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557784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5632703"/>
            <a:ext cx="471830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マネージド（VPC の中）</a:t>
            </a:r>
          </a:p>
        </p:txBody>
      </p:sp>
      <p:pic>
        <p:nvPicPr>
          <p:cNvPr id="31" name="Picture 30" descr="f61fbb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5943600"/>
            <a:ext cx="384048" cy="38404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663440" y="5943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E5FD8"/>
          </a:solidFill>
          <a:ln w="12700">
            <a:solidFill>
              <a:srgbClr val="2E5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5943600"/>
            <a:ext cx="47548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  <a:ea typeface="Noto Sans JP"/>
              </a:rPr>
              <a:t>RDS</a:t>
            </a:r>
          </a:p>
        </p:txBody>
      </p:sp>
      <p:pic>
        <p:nvPicPr>
          <p:cNvPr id="38" name="Picture 37" descr="ee37f5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5943600"/>
            <a:ext cx="384048" cy="384048"/>
          </a:xfrm>
          <a:prstGeom prst="rect">
            <a:avLst/>
          </a:prstGeom>
        </p:spPr>
      </p:pic>
      <p:pic>
        <p:nvPicPr>
          <p:cNvPr id="40" name="Picture 39" descr="c4524d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6675120"/>
            <a:ext cx="384048" cy="384048"/>
          </a:xfrm>
          <a:prstGeom prst="rect">
            <a:avLst/>
          </a:prstGeom>
        </p:spPr>
      </p:pic>
      <p:pic>
        <p:nvPicPr>
          <p:cNvPr id="42" name="Picture 41" descr="7bcba28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6675120"/>
            <a:ext cx="384048" cy="3840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046720" y="5577840"/>
            <a:ext cx="2057400" cy="1874519"/>
          </a:xfrm>
          <a:prstGeom prst="roundRect">
            <a:avLst>
              <a:gd name="adj" fmla="val 6000"/>
            </a:avLst>
          </a:prstGeom>
          <a:solidFill>
            <a:srgbClr val="E6F6F7"/>
          </a:solidFill>
          <a:ln w="12700">
            <a:solidFill>
              <a:srgbClr val="00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715fcfd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960" y="5760720"/>
            <a:ext cx="457200" cy="457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092440" y="6263640"/>
            <a:ext cx="196596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VPC エンドポイント</a:t>
            </a:r>
          </a:p>
          <a:p>
            <a:pPr algn="ctr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AWS の API は</a:t>
            </a:r>
          </a:p>
          <a:p>
            <a:pPr algn="ctr"/>
            <a:r>
              <a:rPr sz="900" b="0">
                <a:solidFill>
                  <a:srgbClr val="5A6775"/>
                </a:solidFill>
                <a:latin typeface="Noto Sans JP"/>
                <a:ea typeface="Noto Sans JP"/>
              </a:rPr>
              <a:t>ここからだけ（1〜3 AZ）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737360" y="2926080"/>
            <a:ext cx="1965960" cy="621792"/>
          </a:xfrm>
          <a:prstGeom prst="line">
            <a:avLst/>
          </a:prstGeom>
          <a:ln w="19050">
            <a:solidFill>
              <a:srgbClr val="6B778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2377440"/>
            <a:ext cx="173736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SSM の</a:t>
            </a:r>
          </a:p>
          <a:p>
            <a:pPr algn="ctr"/>
            <a:r>
              <a:rPr sz="800" b="0">
                <a:solidFill>
                  <a:srgbClr val="5A6775"/>
                </a:solidFill>
                <a:latin typeface="Noto Sans JP"/>
                <a:ea typeface="Noto Sans JP"/>
              </a:rPr>
              <a:t>ポートフォワーディング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81360" y="1600200"/>
            <a:ext cx="3291840" cy="608076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C5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91088" y="1655064"/>
            <a:ext cx="3072384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232F3E"/>
                </a:solidFill>
                <a:latin typeface="Noto Sans JP"/>
                <a:ea typeface="Noto Sans JP"/>
              </a:rPr>
              <a:t>VPC の外の AWS サービス</a:t>
            </a:r>
          </a:p>
        </p:txBody>
      </p:sp>
      <p:pic>
        <p:nvPicPr>
          <p:cNvPr id="51" name="Picture 50" descr="e1a16bb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09960" y="2057400"/>
            <a:ext cx="384048" cy="3840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612880" y="21214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S3 Tables・S3・Athena</a:t>
            </a:r>
          </a:p>
        </p:txBody>
      </p:sp>
      <p:pic>
        <p:nvPicPr>
          <p:cNvPr id="53" name="Picture 52" descr="a8dc543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09960" y="2514600"/>
            <a:ext cx="384048" cy="3840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612880" y="25786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OpenSearch Serverless（1〜2 AZ）</a:t>
            </a:r>
          </a:p>
        </p:txBody>
      </p:sp>
      <p:pic>
        <p:nvPicPr>
          <p:cNvPr id="55" name="Picture 54" descr="44bf65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9960" y="2971800"/>
            <a:ext cx="384048" cy="3840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612880" y="30358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Managed Service for Prometheus</a:t>
            </a:r>
          </a:p>
        </p:txBody>
      </p:sp>
      <p:pic>
        <p:nvPicPr>
          <p:cNvPr id="57" name="Picture 56" descr="fab8e39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09960" y="3886200"/>
            <a:ext cx="384048" cy="3840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612880" y="39502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Bedrock・AgentCore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09960" y="43434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C7246B"/>
          </a:solidFill>
          <a:ln w="12700">
            <a:solidFill>
              <a:srgbClr val="C72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64240" y="4343400"/>
            <a:ext cx="47548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  <a:ea typeface="Noto Sans JP"/>
              </a:rPr>
              <a:t>SNS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44074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SNS</a:t>
            </a:r>
          </a:p>
        </p:txBody>
      </p:sp>
      <p:pic>
        <p:nvPicPr>
          <p:cNvPr id="62" name="Picture 61" descr="ef1763f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09960" y="4800600"/>
            <a:ext cx="384048" cy="3840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1612880" y="48646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SQS</a:t>
            </a:r>
          </a:p>
        </p:txBody>
      </p:sp>
      <p:pic>
        <p:nvPicPr>
          <p:cNvPr id="64" name="Picture 63" descr="c35ba56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09960" y="5715000"/>
            <a:ext cx="384048" cy="3840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1612880" y="57790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Systems Manager</a:t>
            </a:r>
          </a:p>
        </p:txBody>
      </p:sp>
      <p:pic>
        <p:nvPicPr>
          <p:cNvPr id="66" name="Picture 65" descr="f2b3f3f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09960" y="6172200"/>
            <a:ext cx="384048" cy="3840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612880" y="62362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ECR</a:t>
            </a:r>
          </a:p>
        </p:txBody>
      </p:sp>
      <p:pic>
        <p:nvPicPr>
          <p:cNvPr id="68" name="Picture 67" descr="57e1eeb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9960" y="6629400"/>
            <a:ext cx="384048" cy="3840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1612880" y="66934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CloudWatch Logs</a:t>
            </a:r>
          </a:p>
        </p:txBody>
      </p:sp>
      <p:pic>
        <p:nvPicPr>
          <p:cNvPr id="70" name="Picture 69" descr="c0a9534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09960" y="7086600"/>
            <a:ext cx="384048" cy="38404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1612880" y="71506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IAM（閉域の Deny）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149840" y="6492240"/>
            <a:ext cx="685800" cy="0"/>
          </a:xfrm>
          <a:prstGeom prst="line">
            <a:avLst/>
          </a:prstGeom>
          <a:ln w="19050">
            <a:solidFill>
              <a:srgbClr val="008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3258800" y="7818120"/>
            <a:ext cx="9144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5 / 5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246120"/>
            <a:ext cx="384048" cy="384048"/>
          </a:xfrm>
          <a:prstGeom prst="rect">
            <a:avLst/>
          </a:prstGeom>
        </p:spPr>
      </p:pic>
      <p:sp>
        <p:nvSpPr>
          <p:cNvPr id="75" name="TextBox 17"/>
          <p:cNvSpPr txBox="1"/>
          <p:nvPr/>
        </p:nvSpPr>
        <p:spPr>
          <a:xfrm>
            <a:off x="6035040" y="3218688"/>
            <a:ext cx="18745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Kafbat UI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stream（いつも 1 つ）</a:t>
            </a:r>
          </a:p>
        </p:txBody>
      </p:sp>
      <p:sp>
        <p:nvSpPr>
          <p:cNvPr id="76" name="TextBox 17"/>
          <p:cNvSpPr txBox="1"/>
          <p:nvPr/>
        </p:nvSpPr>
        <p:spPr>
          <a:xfrm>
            <a:off x="3502152" y="5916168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MSK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2〜3 AZ（既定 2）</a:t>
            </a:r>
          </a:p>
        </p:txBody>
      </p:sp>
      <p:sp>
        <p:nvSpPr>
          <p:cNvPr id="77" name="TextBox 17"/>
          <p:cNvSpPr txBox="1"/>
          <p:nvPr/>
        </p:nvSpPr>
        <p:spPr>
          <a:xfrm>
            <a:off x="5102352" y="5916168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RDS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1〜2 AZ</a:t>
            </a:r>
          </a:p>
        </p:txBody>
      </p:sp>
      <p:sp>
        <p:nvSpPr>
          <p:cNvPr id="78" name="TextBox 17"/>
          <p:cNvSpPr txBox="1"/>
          <p:nvPr/>
        </p:nvSpPr>
        <p:spPr>
          <a:xfrm>
            <a:off x="6702552" y="5916168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EMR Serverless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1〜3 AZ</a:t>
            </a:r>
          </a:p>
        </p:txBody>
      </p:sp>
      <p:sp>
        <p:nvSpPr>
          <p:cNvPr id="79" name="TextBox 17"/>
          <p:cNvSpPr txBox="1"/>
          <p:nvPr/>
        </p:nvSpPr>
        <p:spPr>
          <a:xfrm>
            <a:off x="3502152" y="6647688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Lambda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1〜3 AZ</a:t>
            </a:r>
          </a:p>
        </p:txBody>
      </p:sp>
      <p:sp>
        <p:nvSpPr>
          <p:cNvPr id="80" name="TextBox 17"/>
          <p:cNvSpPr txBox="1"/>
          <p:nvPr/>
        </p:nvSpPr>
        <p:spPr>
          <a:xfrm>
            <a:off x="5102352" y="6647688"/>
            <a:ext cx="11887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内部 NLB</a:t>
            </a:r>
          </a:p>
          <a:p>
            <a:pPr algn="l"/>
            <a:r>
              <a:rPr sz="850" b="0">
                <a:solidFill>
                  <a:srgbClr val="5A6775"/>
                </a:solidFill>
                <a:latin typeface="Noto Sans JP"/>
                <a:ea typeface="Noto Sans JP"/>
              </a:rPr>
              <a:t>1〜3 AZ</a:t>
            </a:r>
          </a:p>
        </p:txBody>
      </p:sp>
      <p:pic>
        <p:nvPicPr>
          <p:cNvPr id="33" name="Picture 32" descr="3e5bda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342900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612880" y="34930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Neptune Analytics（1〜3 AZ）</a:t>
            </a:r>
          </a:p>
        </p:txBody>
      </p:sp>
      <p:sp>
        <p:nvSpPr>
          <p:cNvPr id="81" name="Rounded Rectangle 58"/>
          <p:cNvSpPr/>
          <p:nvPr/>
        </p:nvSpPr>
        <p:spPr>
          <a:xfrm>
            <a:off x="11109960" y="52578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8C4FFF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59"/>
          <p:cNvSpPr txBox="1"/>
          <p:nvPr/>
        </p:nvSpPr>
        <p:spPr>
          <a:xfrm>
            <a:off x="11064240" y="5257800"/>
            <a:ext cx="475488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Noto Sans JP"/>
                <a:ea typeface="Noto Sans JP"/>
              </a:rPr>
              <a:t>Fire</a:t>
            </a:r>
          </a:p>
          <a:p>
            <a:pPr algn="ctr"/>
            <a:r>
              <a:rPr sz="550" b="1">
                <a:solidFill>
                  <a:srgbClr val="FFFFFF"/>
                </a:solidFill>
                <a:latin typeface="Noto Sans JP"/>
                <a:ea typeface="Noto Sans JP"/>
              </a:rPr>
              <a:t>hose</a:t>
            </a:r>
          </a:p>
        </p:txBody>
      </p:sp>
      <p:sp>
        <p:nvSpPr>
          <p:cNvPr id="83" name="TextBox 60"/>
          <p:cNvSpPr txBox="1"/>
          <p:nvPr/>
        </p:nvSpPr>
        <p:spPr>
          <a:xfrm>
            <a:off x="11612880" y="5321808"/>
            <a:ext cx="246888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Noto Sans JP"/>
                <a:ea typeface="Noto Sans JP"/>
              </a:rPr>
              <a:t>Data Firehose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